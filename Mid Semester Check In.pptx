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8" r:id="rId5"/>
    <p:sldId id="269" r:id="rId6"/>
    <p:sldId id="270" r:id="rId7"/>
    <p:sldId id="272" r:id="rId8"/>
    <p:sldId id="271" r:id="rId9"/>
    <p:sldId id="273" r:id="rId10"/>
    <p:sldId id="260" r:id="rId11"/>
    <p:sldId id="266" r:id="rId12"/>
    <p:sldId id="25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311-Resolution-Satisfaction-Survey/5ijn-vbdv" TargetMode="External" /><Relationship Id="rId7" Type="http://schemas.openxmlformats.org/officeDocument/2006/relationships/image" Target="../media/image1.png" /><Relationship Id="rId2" Type="http://schemas.openxmlformats.org/officeDocument/2006/relationships/hyperlink" Target="https://www.census.gov/programs-surveys/acs" TargetMode="External" /><Relationship Id="rId1" Type="http://schemas.openxmlformats.org/officeDocument/2006/relationships/slideLayout" Target="../slideLayouts/slideLayout1.xml" /><Relationship Id="rId6" Type="http://schemas.openxmlformats.org/officeDocument/2006/relationships/hyperlink" Target="https://popfactfinder.planning.nyc.gov/explorer/boroughs/2?acsTopics=demo-sexAndAge%2Cdemo-mutuallyExclusiveRaceHispanicOrigin%2Cdemo-hispanicSubgroup%2Cdemo-asianSubgroup%2Cecon-employmentStatus%2Cecon-commuteToWork%2Cecon-occupation%2Cecon-industry%2Cecon-classOfWorker%2Cecon-incomeAndBenefits%2Cecon-earnings%2Cecon-healthInsuranceCoverage%2Cecon-incomeInPast12MonthsIsBelowThePovertyLevel%2Cecon-ratioOfIncomeToPovertyLevel%2Csoc-householdType%2Csoc-relationshipToHeadOfHouseholdHouseholder%2Csoc-maritalStatus%2Csoc-grandparents%2Csoc-schoolEnrollment%2Csoc-educationalAttainmentHighestGradeCompleted%2Csoc-veteranStatus%2Csoc-disabilityStatusOfTheCivilianNoninstitutionalizedPopulation%2Csoc-residence1YearAgo%2Csoc-placeOfBirth%2Csoc-uSCitizenshipStatus%2Csoc-yearOfEntry%2Csoc-languageSpokenAtHome%2Csoc-ancestry%2Csoc-computersAndInternetUse&amp;source=acs-current" TargetMode="External" /><Relationship Id="rId5" Type="http://schemas.openxmlformats.org/officeDocument/2006/relationships/hyperlink" Target="https://catalog.data.gov/dataset/property-valuation-and-assessment-data-db7c2" TargetMode="External" /><Relationship Id="rId4" Type="http://schemas.openxmlformats.org/officeDocument/2006/relationships/hyperlink" Target="https://data.cityofnewyork.us/Social-Services/311-Service-Requests-from-2010-to-Present/erm2-nwe9/about_data" TargetMode="Externa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9980" y="262686"/>
            <a:ext cx="6655239" cy="1297115"/>
          </a:xfrm>
        </p:spPr>
        <p:txBody>
          <a:bodyPr anchor="t">
            <a:normAutofit fontScale="90000"/>
          </a:bodyPr>
          <a:lstStyle/>
          <a:p>
            <a:r>
              <a:rPr lang="en-US" sz="4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STA-9750 – Final Project</a:t>
            </a:r>
            <a:br>
              <a:rPr lang="en-US" sz="4000" b="1">
                <a:latin typeface="Calibri"/>
              </a:rPr>
            </a:br>
            <a:br>
              <a:rPr lang="en-US" sz="4000" b="1">
                <a:latin typeface="Calibri"/>
              </a:rPr>
            </a:br>
            <a:r>
              <a:rPr lang="en-US" sz="4000" b="1">
                <a:latin typeface="Calibri"/>
                <a:ea typeface="+mj-lt"/>
                <a:cs typeface="+mj-lt"/>
              </a:rPr>
              <a:t>Analyzing 311 Service Delivery Across NYC's Income Divide</a:t>
            </a:r>
            <a:endParaRPr lang="en-US" sz="4000" b="1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83893" y="3215267"/>
            <a:ext cx="5307495" cy="3189879"/>
          </a:xfrm>
        </p:spPr>
        <p:txBody>
          <a:bodyPr anchor="b">
            <a:normAutofit/>
          </a:bodyPr>
          <a:lstStyle/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Team Members:</a:t>
            </a:r>
            <a:endParaRPr lang="en-US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Kyle Shaddox</a:t>
            </a:r>
            <a:endParaRPr lang="en-US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Reem Hussein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Hyacinthe Sarr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Juan Jaimes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Shahria Ahmed</a:t>
            </a: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E6AF3539-BFA6-3A7E-6F75-F9D1F254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5" y="2901739"/>
            <a:ext cx="4620314" cy="61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2065-A0A2-EFC2-B853-241CB6D8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7EEE-E148-2CB4-9854-407E65F83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776"/>
            <a:ext cx="9144000" cy="131894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>
                <a:latin typeface="Calibri"/>
                <a:ea typeface="Calibri"/>
                <a:cs typeface="Calibri"/>
              </a:rPr>
              <a:t>Does NYC provide faster and more effective 311 service responses to wealthier neighborhoods compared to lower-income communities?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9BFFA-6963-B9FF-4C35-DD75A354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41" y="1640427"/>
            <a:ext cx="12024730" cy="488032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What is 311?</a:t>
            </a:r>
          </a:p>
          <a:p>
            <a:pPr marL="342900" indent="-342900" algn="l"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NYC 311 acts as a centralized hub for residents to access non-emergency city services and information (i.e. things that don’t require calling 911)</a:t>
            </a:r>
          </a:p>
          <a:p>
            <a:pPr marL="342900" indent="-342900" algn="l"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It is available via phone, text, mobile app, and online through the NYC 311 website</a:t>
            </a:r>
          </a:p>
          <a:p>
            <a:pPr marL="342900" indent="-342900" algn="l"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311 Covers essential services such as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latin typeface="Calibri"/>
                <a:ea typeface="Calibri"/>
                <a:cs typeface="Calibri"/>
              </a:rPr>
              <a:t>Potholes, broken sidewalks, missing/damaged street signs, broken street signals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latin typeface="Calibri"/>
                <a:ea typeface="Calibri"/>
                <a:cs typeface="Calibri"/>
              </a:rPr>
              <a:t>Housing &amp; public health problems such as heat or hot water, building violations, air quality issues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latin typeface="Calibri"/>
                <a:ea typeface="Calibri"/>
                <a:cs typeface="Calibri"/>
              </a:rPr>
              <a:t>Public disturbance such as noise complaints, illegal parking</a:t>
            </a:r>
          </a:p>
          <a:p>
            <a:pPr lvl="1" algn="l"/>
            <a:endParaRPr lang="en-US">
              <a:latin typeface="Calibri"/>
              <a:ea typeface="Calibri"/>
              <a:cs typeface="Calibri"/>
            </a:endParaRPr>
          </a:p>
          <a:p>
            <a:pPr algn="l"/>
            <a:r>
              <a:rPr lang="en-US" b="1">
                <a:latin typeface="Calibri"/>
                <a:ea typeface="Calibri"/>
                <a:cs typeface="Calibri"/>
              </a:rPr>
              <a:t>What Geographical Areas?</a:t>
            </a:r>
          </a:p>
          <a:p>
            <a:pPr marL="342900" indent="-342900" algn="l"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Manhattan</a:t>
            </a:r>
          </a:p>
          <a:p>
            <a:pPr marL="342900" indent="-342900" algn="l"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Queens</a:t>
            </a:r>
          </a:p>
          <a:p>
            <a:pPr marL="342900" indent="-342900" algn="l"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Brooklyn</a:t>
            </a:r>
          </a:p>
          <a:p>
            <a:pPr marL="342900" indent="-342900" algn="l"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Bronx</a:t>
            </a:r>
          </a:p>
          <a:p>
            <a:pPr marL="342900" indent="-342900" algn="l"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Staten Island</a:t>
            </a:r>
          </a:p>
          <a:p>
            <a:pPr marL="342900" indent="-342900" algn="l">
              <a:buChar char="•"/>
            </a:pPr>
            <a:endParaRPr lang="en-US">
              <a:latin typeface="Calibri"/>
              <a:ea typeface="Calibri"/>
              <a:cs typeface="Calibri"/>
            </a:endParaRPr>
          </a:p>
          <a:p>
            <a:pPr algn="l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3E820E03-74E3-3BFB-1AB4-F236EA94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7C0D0-76CD-02BE-B324-81985159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The Expert's Guide to the Five Boroughs of New York City">
            <a:extLst>
              <a:ext uri="{FF2B5EF4-FFF2-40B4-BE49-F238E27FC236}">
                <a16:creationId xmlns:a16="http://schemas.microsoft.com/office/drawing/2014/main" id="{A68564CD-C68B-9C71-A872-DA5ECEA06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089" y="3712854"/>
            <a:ext cx="3103416" cy="301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9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E1CA-6DFC-0008-470A-F7A1581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9025-30C0-BD33-441E-96F8DA211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latin typeface="Calibri"/>
                <a:ea typeface="+mj-lt"/>
                <a:cs typeface="+mj-lt"/>
              </a:rPr>
              <a:t>Anticipated Challenges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34FC9-B28C-7538-23DC-4DBFD446F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931" y="1107539"/>
            <a:ext cx="10808940" cy="524881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b="1" dirty="0">
                <a:latin typeface="Calibri"/>
                <a:ea typeface="Calibri"/>
                <a:cs typeface="Calibri"/>
              </a:rPr>
              <a:t>Data Integration/Tables</a:t>
            </a:r>
          </a:p>
          <a:p>
            <a:pPr marL="342900" indent="-342900" algn="l">
              <a:buChar char="•"/>
            </a:pPr>
            <a:r>
              <a:rPr lang="en-US" dirty="0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Data set may be too large and we need to focus on a smaller window of time</a:t>
            </a:r>
          </a:p>
          <a:p>
            <a:pPr marL="342900" indent="-342900" algn="l">
              <a:buChar char="•"/>
            </a:pPr>
            <a:r>
              <a:rPr lang="en-US" dirty="0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Census data is as of 2020 and demographics changed post covid. We would need to find an appropriate timeframe or estimate current demographics</a:t>
            </a:r>
          </a:p>
          <a:p>
            <a:pPr marL="342900" indent="-342900" algn="l"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Data quality is unknown and joining data may be a challenge </a:t>
            </a:r>
          </a:p>
          <a:p>
            <a:pPr marL="342900" indent="-342900" algn="l">
              <a:buChar char="•"/>
            </a:pPr>
            <a:r>
              <a:rPr lang="en-US" dirty="0"/>
              <a:t>Aligning 311 records with neighborhood income data</a:t>
            </a:r>
          </a:p>
          <a:p>
            <a:pPr marL="342900" indent="-342900" algn="l">
              <a:buChar char="•"/>
            </a:pPr>
            <a:r>
              <a:rPr lang="en-US" dirty="0"/>
              <a:t>Some complaints may remain open for years, skewing averages; need trimming or median-based measures.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r>
              <a:rPr lang="en-US" b="1" dirty="0">
                <a:latin typeface="Calibri"/>
                <a:ea typeface="Calibri"/>
                <a:cs typeface="Calibri"/>
              </a:rPr>
              <a:t>Statistical Methods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Regression model and analysis may be successful only in a specific time frame. How it will perform over a different timeframe may be unknown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r>
              <a:rPr lang="en-US" b="1" dirty="0">
                <a:latin typeface="Calibri"/>
                <a:ea typeface="Calibri"/>
                <a:cs typeface="Calibri"/>
              </a:rPr>
              <a:t>Validation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There may not be any meaningful pattern in the data or a satisfying conclusion</a:t>
            </a:r>
          </a:p>
          <a:p>
            <a:pPr algn="l"/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6CCC4ABE-A55C-9DB5-BAE2-B652479E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99187-6C7C-81E2-54DF-C60B5D0E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1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173B-3B16-44C2-7470-36C9BA593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 Semester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F9EB1-E94F-135E-05AB-21568882B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We have two main datasets: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311 complaints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dirty="0"/>
              <a:t>311 complaints resolutions and satisfaction</a:t>
            </a:r>
          </a:p>
          <a:p>
            <a:r>
              <a:rPr lang="en-US" sz="1800" dirty="0"/>
              <a:t>Both are massive amounts of data (3+ million rows), so we decided to narrow our scope</a:t>
            </a:r>
          </a:p>
          <a:p>
            <a:r>
              <a:rPr lang="en-US" sz="1800" dirty="0"/>
              <a:t>New timeframe is first four months of 2024</a:t>
            </a:r>
          </a:p>
          <a:p>
            <a:r>
              <a:rPr lang="en-US" sz="1800" dirty="0"/>
              <a:t>The </a:t>
            </a:r>
            <a:r>
              <a:rPr lang="en-US" sz="1800" dirty="0" err="1"/>
              <a:t>RSocrata</a:t>
            </a:r>
            <a:r>
              <a:rPr lang="en-US" sz="1800" dirty="0"/>
              <a:t> package was deprecated earlier this year, so we ran into some issues initially but managed to resolve them</a:t>
            </a:r>
          </a:p>
          <a:p>
            <a:r>
              <a:rPr lang="en-US" sz="1800" dirty="0"/>
              <a:t>We are dropping one of our questions (seasonal and yearly analysis) due to large data constraints. May look into a YoY analysis on the same 4 months </a:t>
            </a:r>
          </a:p>
          <a:p>
            <a:r>
              <a:rPr lang="en-US" sz="1800" dirty="0"/>
              <a:t>This reduction of the timeframe may affect the regression analysis, because it is only based on 4 months</a:t>
            </a:r>
          </a:p>
          <a:p>
            <a:r>
              <a:rPr lang="en-US" sz="1800" dirty="0"/>
              <a:t>NYC property valuation dataset is roughly ~9 million rows, API does not allow us to pull large amounts of data so we need to break it down to smaller chunks and limit to 1 million rows.</a:t>
            </a:r>
          </a:p>
        </p:txBody>
      </p:sp>
    </p:spTree>
    <p:extLst>
      <p:ext uri="{BB962C8B-B14F-4D97-AF65-F5344CB8AC3E}">
        <p14:creationId xmlns:p14="http://schemas.microsoft.com/office/powerpoint/2010/main" val="93465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313F-7599-7249-7A2E-A0925191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64" y="142518"/>
            <a:ext cx="10515600" cy="1325563"/>
          </a:xfrm>
        </p:spPr>
        <p:txBody>
          <a:bodyPr/>
          <a:lstStyle/>
          <a:p>
            <a:r>
              <a:rPr lang="en-US" dirty="0"/>
              <a:t>Exploratory Analysis – 311 data set</a:t>
            </a:r>
          </a:p>
        </p:txBody>
      </p:sp>
      <p:pic>
        <p:nvPicPr>
          <p:cNvPr id="4" name="Content Placeholder 3" descr="A graph of a number of complaints&#10;&#10;AI-generated content may be incorrect.">
            <a:extLst>
              <a:ext uri="{FF2B5EF4-FFF2-40B4-BE49-F238E27FC236}">
                <a16:creationId xmlns:a16="http://schemas.microsoft.com/office/drawing/2014/main" id="{33F041BF-AF7B-964B-DC77-BC9A4BCC8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934" y="1460985"/>
            <a:ext cx="8116583" cy="50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4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E682-9F32-D9D9-3D73-D9C8FC90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CC7D-382B-3C9D-AEE6-C5392D2D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64" y="142518"/>
            <a:ext cx="10515600" cy="1325563"/>
          </a:xfrm>
        </p:spPr>
        <p:txBody>
          <a:bodyPr/>
          <a:lstStyle/>
          <a:p>
            <a:r>
              <a:rPr lang="en-US" dirty="0"/>
              <a:t>Exploratory Analysis – 311 data set</a:t>
            </a:r>
          </a:p>
        </p:txBody>
      </p:sp>
      <p:pic>
        <p:nvPicPr>
          <p:cNvPr id="5" name="Content Placeholder 4" descr="A graph of a number of complaints&#10;&#10;AI-generated content may be incorrect.">
            <a:extLst>
              <a:ext uri="{FF2B5EF4-FFF2-40B4-BE49-F238E27FC236}">
                <a16:creationId xmlns:a16="http://schemas.microsoft.com/office/drawing/2014/main" id="{8249DD8F-542E-24D4-029C-BE25B7382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333" y="1334053"/>
            <a:ext cx="7547428" cy="465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282C-0015-4AA8-A5EE-DEB425C8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28DE-FC7B-B1F4-5A3A-3C57599D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64" y="142518"/>
            <a:ext cx="10515600" cy="1325563"/>
          </a:xfrm>
        </p:spPr>
        <p:txBody>
          <a:bodyPr/>
          <a:lstStyle/>
          <a:p>
            <a:r>
              <a:rPr lang="en-US" dirty="0"/>
              <a:t>Exploratory Analysis – 311 data set</a:t>
            </a:r>
          </a:p>
        </p:txBody>
      </p:sp>
      <p:pic>
        <p:nvPicPr>
          <p:cNvPr id="9" name="Content Placeholder 8" descr="A graph of a number of complaints&#10;&#10;AI-generated content may be incorrect.">
            <a:extLst>
              <a:ext uri="{FF2B5EF4-FFF2-40B4-BE49-F238E27FC236}">
                <a16:creationId xmlns:a16="http://schemas.microsoft.com/office/drawing/2014/main" id="{7873B640-6285-D09E-06D5-518EF4973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793" y="1314450"/>
            <a:ext cx="7672551" cy="47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1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46C4-39DD-BFDE-2919-A6D3D079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D5E2-2AD0-5409-F74B-9E5F988D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64" y="142518"/>
            <a:ext cx="10515600" cy="1325563"/>
          </a:xfrm>
        </p:spPr>
        <p:txBody>
          <a:bodyPr/>
          <a:lstStyle/>
          <a:p>
            <a:r>
              <a:rPr lang="en-US" dirty="0"/>
              <a:t>Exploratory Analysis – 311 data 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9A85D7-1976-1D88-92A3-447B2724C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524" y="1427135"/>
            <a:ext cx="6712606" cy="498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4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DC9E-8A34-96B3-7746-14770801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8" y="-2737"/>
            <a:ext cx="10515600" cy="1325563"/>
          </a:xfrm>
        </p:spPr>
        <p:txBody>
          <a:bodyPr/>
          <a:lstStyle/>
          <a:p>
            <a:r>
              <a:rPr lang="en-US" dirty="0"/>
              <a:t>Exploratory Analysis – Census</a:t>
            </a:r>
          </a:p>
          <a:p>
            <a:endParaRPr lang="en-US" dirty="0"/>
          </a:p>
        </p:txBody>
      </p:sp>
      <p:pic>
        <p:nvPicPr>
          <p:cNvPr id="4" name="Content Placeholder 3" descr="A map of the middle east&#10;&#10;AI-generated content may be incorrect.">
            <a:extLst>
              <a:ext uri="{FF2B5EF4-FFF2-40B4-BE49-F238E27FC236}">
                <a16:creationId xmlns:a16="http://schemas.microsoft.com/office/drawing/2014/main" id="{27BD3791-B396-9C3B-A151-390E490B1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872" b="10064"/>
          <a:stretch>
            <a:fillRect/>
          </a:stretch>
        </p:blipFill>
        <p:spPr>
          <a:xfrm>
            <a:off x="1" y="656378"/>
            <a:ext cx="11955517" cy="638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3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8E62-4141-DEA4-F92B-5DA5A30B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CB7E-E2CA-0000-BDEE-60ADAD88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latin typeface="Calibri"/>
                <a:ea typeface="+mj-lt"/>
                <a:cs typeface="+mj-lt"/>
              </a:rPr>
              <a:t>Core Analytical Questions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779F9-D777-8E1D-8369-58195B3CA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35" y="767770"/>
            <a:ext cx="11841458" cy="5594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REEM </a:t>
            </a:r>
            <a:r>
              <a:rPr lang="en-US" b="1" dirty="0">
                <a:latin typeface="Calibri"/>
                <a:ea typeface="Calibri"/>
                <a:cs typeface="Calibri"/>
              </a:rPr>
              <a:t>Question One</a:t>
            </a:r>
            <a:r>
              <a:rPr lang="en-US" dirty="0">
                <a:latin typeface="Calibri"/>
                <a:ea typeface="Calibri"/>
                <a:cs typeface="Calibri"/>
              </a:rPr>
              <a:t> - </a:t>
            </a:r>
            <a:r>
              <a:rPr lang="en-US" dirty="0">
                <a:latin typeface="Calibri"/>
                <a:ea typeface="+mn-lt"/>
                <a:cs typeface="+mn-lt"/>
              </a:rPr>
              <a:t>What is the average response time to quality-of-life complaints by neighborhood?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</a:rPr>
              <a:t>This helps reveal which areas of the city receive faster attention from 311 and where delays are most common</a:t>
            </a:r>
          </a:p>
          <a:p>
            <a:pPr lvl="1" algn="l"/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l"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REEM</a:t>
            </a:r>
            <a:r>
              <a:rPr lang="en-US" b="1" dirty="0">
                <a:latin typeface="Calibri"/>
                <a:ea typeface="Calibri"/>
                <a:cs typeface="Calibri"/>
              </a:rPr>
              <a:t> Question Two</a:t>
            </a:r>
            <a:r>
              <a:rPr lang="en-US" dirty="0">
                <a:latin typeface="Calibri"/>
                <a:ea typeface="Calibri"/>
                <a:cs typeface="Calibri"/>
              </a:rPr>
              <a:t> - </a:t>
            </a:r>
            <a:r>
              <a:rPr lang="en-US" dirty="0">
                <a:latin typeface="Calibri"/>
                <a:ea typeface="+mn-lt"/>
                <a:cs typeface="+mn-lt"/>
              </a:rPr>
              <a:t>How does median household income vary across the neighborhoods in our dataset?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Understanding income variation provides important context for analyzing differences in service delivery and access</a:t>
            </a:r>
          </a:p>
          <a:p>
            <a:pPr lvl="1" algn="l"/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SARR </a:t>
            </a:r>
            <a:r>
              <a:rPr lang="en-US" b="1" dirty="0">
                <a:latin typeface="Calibri"/>
                <a:ea typeface="Calibri"/>
                <a:cs typeface="Calibri"/>
              </a:rPr>
              <a:t>Question Three</a:t>
            </a:r>
            <a:r>
              <a:rPr lang="en-US" dirty="0">
                <a:latin typeface="Calibri"/>
                <a:ea typeface="Calibri"/>
                <a:cs typeface="Calibri"/>
              </a:rPr>
              <a:t> - I</a:t>
            </a:r>
            <a:r>
              <a:rPr lang="en-US" dirty="0">
                <a:latin typeface="Calibri"/>
                <a:ea typeface="+mn-lt"/>
                <a:cs typeface="+mn-lt"/>
              </a:rPr>
              <a:t>s there a relationship between income levels and average 311 response times?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Exploring this connection can uncover patterns of inequity and help determine if resources are distributed fairly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61133793-E6C9-0D68-D594-20724354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96CAB-1DFB-FBD3-B278-E2899464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2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87B0-0967-148D-D025-54536F6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377A-134F-A823-70DB-EDAA63227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latin typeface="Calibri"/>
                <a:ea typeface="+mj-lt"/>
                <a:cs typeface="+mj-lt"/>
              </a:rPr>
              <a:t>Core Analytical Questions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C08A1-F8F1-1BB6-36E9-DBC0FB5A9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35" y="767770"/>
            <a:ext cx="11841458" cy="55945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l"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Juan </a:t>
            </a:r>
            <a:r>
              <a:rPr lang="en-US" b="1" dirty="0">
                <a:latin typeface="Calibri"/>
                <a:ea typeface="Calibri"/>
                <a:cs typeface="Calibri"/>
              </a:rPr>
              <a:t>Question Four</a:t>
            </a:r>
            <a:r>
              <a:rPr lang="en-US" dirty="0">
                <a:latin typeface="Calibri"/>
                <a:ea typeface="Calibri"/>
                <a:cs typeface="Calibri"/>
              </a:rPr>
              <a:t> - Do certain types of quality-of-life complaints (e.g., noise vs. sanitation vs. illegal parking) get resolved faster in wealthier neighborhoods?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Looking at this sheds light on whether some issues are prioritized differently depending on a community’s wealth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Kyle </a:t>
            </a:r>
            <a:r>
              <a:rPr lang="en-US" b="1" dirty="0">
                <a:latin typeface="Calibri"/>
                <a:ea typeface="Calibri"/>
                <a:cs typeface="Calibri"/>
              </a:rPr>
              <a:t>Question Five</a:t>
            </a:r>
            <a:r>
              <a:rPr lang="en-US" dirty="0">
                <a:latin typeface="Calibri"/>
                <a:ea typeface="Calibri"/>
                <a:cs typeface="Calibri"/>
              </a:rPr>
              <a:t> - Which boroughs or neighborhoods show the greatest disparities in 311 response times when compared by wealth?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This comparison highlights where service gaps are most significant and where targeted improvements may be needed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Shah </a:t>
            </a:r>
            <a:r>
              <a:rPr lang="en-US" b="1" dirty="0">
                <a:latin typeface="Calibri"/>
                <a:ea typeface="Calibri"/>
                <a:cs typeface="Calibri"/>
              </a:rPr>
              <a:t>Question Six</a:t>
            </a:r>
            <a:r>
              <a:rPr lang="en-US" dirty="0">
                <a:latin typeface="Calibri"/>
                <a:ea typeface="Calibri"/>
                <a:cs typeface="Calibri"/>
              </a:rPr>
              <a:t>- Can we predict where a complaint came from (neighborhood) based on the complaint?</a:t>
            </a:r>
          </a:p>
          <a:p>
            <a:pPr marL="742950" lvl="1" indent="-342900" algn="l">
              <a:buFont typeface="Courier New,monospace" panose="020B0604020202020204" pitchFamily="34" charset="0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This can help us determine how long it will take for the complaint to be resolved</a:t>
            </a:r>
          </a:p>
          <a:p>
            <a:pPr marL="342900" indent="-342900" algn="l">
              <a:buChar char="•"/>
            </a:pPr>
            <a:endParaRPr lang="en-US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>
              <a:latin typeface="Calibri"/>
              <a:ea typeface="Calibri"/>
              <a:cs typeface="Calibri"/>
            </a:endParaRPr>
          </a:p>
          <a:p>
            <a:pPr algn="l"/>
            <a:endParaRPr lang="en-US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FFAE393C-CE90-66FF-8B0D-44E43BF7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06479-CE32-B7D1-E44C-2D5F28A6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5F27-BD0E-8B30-FF5F-84408D42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A2CD-C064-75F0-B5DF-AA5813F0A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latin typeface="Calibri"/>
                <a:ea typeface="+mj-lt"/>
                <a:cs typeface="+mj-lt"/>
              </a:rPr>
              <a:t>Data Sources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383C6-634D-E158-EDDE-7A7E5BD11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025" y="879282"/>
            <a:ext cx="10370634" cy="55586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latin typeface="Calibri"/>
                <a:ea typeface="Calibri"/>
                <a:cs typeface="Calibri"/>
              </a:rPr>
              <a:t>Three data sources we will use</a:t>
            </a:r>
          </a:p>
          <a:p>
            <a:pPr marL="342900" indent="-342900" algn="l"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US Census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  <a:hlinkClick r:id="rId2"/>
              </a:rPr>
              <a:t>https://www.census.gov/programs-surveys/acs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City of New York</a:t>
            </a:r>
            <a:endParaRPr lang="en-US" dirty="0">
              <a:latin typeface="Calibri"/>
              <a:ea typeface="Calibri"/>
              <a:cs typeface="Calibri"/>
              <a:hlinkClick r:id="rId3"/>
            </a:endParaRP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  <a:hlinkClick r:id="rId3"/>
              </a:rPr>
              <a:t>https://data.cityofnewyork.us/City-Government/311-Resolution-Satisfaction-Survey/5ijn-vbdv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+mn-lt"/>
                <a:cs typeface="+mn-lt"/>
                <a:hlinkClick r:id="rId4"/>
              </a:rPr>
              <a:t>https://data.cityofnewyork.us/Social-Services/311-Service-Requests-from-2010-to-Present/erm2-nwe9/about_data</a:t>
            </a:r>
            <a:endParaRPr lang="en-US" dirty="0">
              <a:latin typeface="Calibri"/>
              <a:ea typeface="+mn-lt"/>
              <a:cs typeface="+mn-lt"/>
            </a:endParaRP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  <a:hlinkClick r:id="rId5"/>
              </a:rPr>
              <a:t>https://catalog.data.gov/dataset/property-valuation-and-assessment-data-db7c2</a:t>
            </a:r>
            <a:endParaRPr lang="en-US" dirty="0">
              <a:latin typeface="Aptos" panose="020B0004020202020204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City of New York – Population Fact Finder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  <a:hlinkClick r:id="rId6"/>
              </a:rPr>
              <a:t>https://popfactfinder.planning.nyc.gov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>Other – To be determined</a:t>
            </a:r>
          </a:p>
          <a:p>
            <a:pPr algn="l"/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335856E5-4933-A0C4-3E63-27E9CD091C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FD73E-7561-0A7E-80CC-1EAE170A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00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D4141-BFCE-051E-D305-1128451A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7A511B6-A32E-1F4C-7125-4C52C5B3F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13734-5DCC-6839-BF15-2CFAD39D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34618-A7C3-4569-164F-BFE3B3384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980" y="262686"/>
            <a:ext cx="6655239" cy="1297115"/>
          </a:xfrm>
        </p:spPr>
        <p:txBody>
          <a:bodyPr anchor="t">
            <a:normAutofit/>
          </a:bodyPr>
          <a:lstStyle/>
          <a:p>
            <a:r>
              <a:rPr lang="en-US" sz="4000">
                <a:latin typeface="Calibri"/>
                <a:ea typeface="Calibri"/>
                <a:cs typeface="Calibri"/>
              </a:rPr>
              <a:t>Next Steps...</a:t>
            </a:r>
            <a:br>
              <a:rPr lang="en-US" sz="4000">
                <a:latin typeface="Calibri"/>
              </a:rPr>
            </a:br>
            <a:endParaRPr lang="en-US" sz="4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0908E-8C0D-3FC6-0FB1-8D95A57D3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674" y="964215"/>
            <a:ext cx="5943888" cy="3169512"/>
          </a:xfrm>
        </p:spPr>
        <p:txBody>
          <a:bodyPr anchor="b">
            <a:normAutofit lnSpcReduction="10000"/>
          </a:bodyPr>
          <a:lstStyle/>
          <a:p>
            <a:pPr marL="342900" indent="-342900" algn="l">
              <a:buAutoNum type="arabicPeriod"/>
            </a:pPr>
            <a:endParaRPr lang="en-US" sz="200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AutoNum type="arabicPeriod"/>
            </a:pPr>
            <a:endParaRPr lang="en-US" sz="200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dirty="0">
                <a:latin typeface="Arial"/>
                <a:cs typeface="Arial"/>
              </a:rPr>
              <a:t>Further exploratory analysis, specifically Census and property valuation for NYC</a:t>
            </a:r>
            <a:endParaRPr lang="en-US" altLang="en-US" sz="2000" dirty="0">
              <a:latin typeface="Arial" panose="020B0604020202020204" pitchFamily="34" charset="0"/>
              <a:cs typeface="Arial"/>
            </a:endParaRPr>
          </a:p>
          <a:p>
            <a:pPr marL="457200" indent="-45720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2000" dirty="0">
                <a:latin typeface="Arial"/>
                <a:cs typeface="Arial"/>
              </a:rPr>
              <a:t>Answer individual questions and overarching question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Conduct correlation and regression analysis to test relationships.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Prepare final report and visuals for end-of-semester presentation</a:t>
            </a:r>
            <a:endParaRPr lang="en-US" sz="200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marL="342900" indent="-342900" algn="l">
              <a:buAutoNum type="arabicPeriod"/>
            </a:pPr>
            <a:endParaRPr lang="en-US" sz="2000" dirty="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F1E7E0-7B1F-2589-8800-2E11C3F8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D43FA-F3F1-CE98-A4C3-608DBF304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EFF6F5-9219-7325-79CC-74199E21C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8F78B7-E1EB-2391-C015-F6435455D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CC3B2B7B-E9F3-A8A6-B0E2-81A5DCB6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5" y="2901739"/>
            <a:ext cx="4620314" cy="6177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C322742-62E9-7484-5C8A-B2040077F59B}"/>
              </a:ext>
            </a:extLst>
          </p:cNvPr>
          <p:cNvSpPr txBox="1">
            <a:spLocks/>
          </p:cNvSpPr>
          <p:nvPr/>
        </p:nvSpPr>
        <p:spPr>
          <a:xfrm>
            <a:off x="5536761" y="5037694"/>
            <a:ext cx="6655239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libri"/>
                <a:ea typeface="Calibri"/>
                <a:cs typeface="Calibri"/>
              </a:rPr>
              <a:t>END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4F5B899-BC3F-D2AE-DFAD-183601089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62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899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STA-9750 – Final Project  Analyzing 311 Service Delivery Across NYC's Income Divide</vt:lpstr>
      <vt:lpstr>Does NYC provide faster and more effective 311 service responses to wealthier neighborhoods compared to lower-income communities?</vt:lpstr>
      <vt:lpstr>Anticipated Challenges</vt:lpstr>
      <vt:lpstr>Mid Semester Updates</vt:lpstr>
      <vt:lpstr>Exploratory Analysis – 311 data set</vt:lpstr>
      <vt:lpstr>Exploratory Analysis – 311 data set</vt:lpstr>
      <vt:lpstr>Exploratory Analysis – 311 data set</vt:lpstr>
      <vt:lpstr>Exploratory Analysis – 311 data set</vt:lpstr>
      <vt:lpstr>Exploratory Analysis – Census </vt:lpstr>
      <vt:lpstr>Core Analytical Questions</vt:lpstr>
      <vt:lpstr>Core Analytical Questions</vt:lpstr>
      <vt:lpstr>Data Sources</vt:lpstr>
      <vt:lpstr>Next Steps...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STA-9750 – Final Project  Analyzing 311 Service Delivery Across NYC's Income Divide</dc:title>
  <dc:creator/>
  <cp:lastModifiedBy>Hyacinthe Sarr</cp:lastModifiedBy>
  <cp:revision>143</cp:revision>
  <dcterms:created xsi:type="dcterms:W3CDTF">2025-09-25T22:07:27Z</dcterms:created>
  <dcterms:modified xsi:type="dcterms:W3CDTF">2025-11-27T19:40:44Z</dcterms:modified>
</cp:coreProperties>
</file>