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59" r:id="rId5"/>
    <p:sldId id="260" r:id="rId6"/>
    <p:sldId id="266" r:id="rId7"/>
    <p:sldId id="261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City-Government/311-Resolution-Satisfaction-Survey/5ijn-vbdv" TargetMode="External" /><Relationship Id="rId2" Type="http://schemas.openxmlformats.org/officeDocument/2006/relationships/hyperlink" Target="https://www.census.gov/programs-surveys/acs" TargetMode="Externa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1.png" /><Relationship Id="rId4" Type="http://schemas.openxmlformats.org/officeDocument/2006/relationships/hyperlink" Target="https://popfactfinder.planning.nyc.gov/explorer/boroughs/2?acsTopics=demo-sexAndAge%2Cdemo-mutuallyExclusiveRaceHispanicOrigin%2Cdemo-hispanicSubgroup%2Cdemo-asianSubgroup%2Cecon-employmentStatus%2Cecon-commuteToWork%2Cecon-occupation%2Cecon-industry%2Cecon-classOfWorker%2Cecon-incomeAndBenefits%2Cecon-earnings%2Cecon-healthInsuranceCoverage%2Cecon-incomeInPast12MonthsIsBelowThePovertyLevel%2Cecon-ratioOfIncomeToPovertyLevel%2Csoc-householdType%2Csoc-relationshipToHeadOfHouseholdHouseholder%2Csoc-maritalStatus%2Csoc-grandparents%2Csoc-schoolEnrollment%2Csoc-educationalAttainmentHighestGradeCompleted%2Csoc-veteranStatus%2Csoc-disabilityStatusOfTheCivilianNoninstitutionalizedPopulation%2Csoc-residence1YearAgo%2Csoc-placeOfBirth%2Csoc-uSCitizenshipStatus%2Csoc-yearOfEntry%2Csoc-languageSpokenAtHome%2Csoc-ancestry%2Csoc-computersAndInternetUse&amp;source=acs-current" TargetMode="Externa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9980" y="262686"/>
            <a:ext cx="6655239" cy="1297115"/>
          </a:xfrm>
        </p:spPr>
        <p:txBody>
          <a:bodyPr anchor="t">
            <a:normAutofit fontScale="90000"/>
          </a:bodyPr>
          <a:lstStyle/>
          <a:p>
            <a:r>
              <a:rPr lang="en-US" sz="4000" b="1">
                <a:solidFill>
                  <a:schemeClr val="tx2"/>
                </a:solidFill>
              </a:rPr>
              <a:t>STA-9750 – Final Project</a:t>
            </a:r>
            <a:br>
              <a:rPr lang="en-US" sz="4000" b="1"/>
            </a:br>
            <a:br>
              <a:rPr lang="en-US" sz="4000" b="1"/>
            </a:br>
            <a:r>
              <a:rPr lang="en-US" sz="4000" b="1">
                <a:ea typeface="+mj-lt"/>
                <a:cs typeface="+mj-lt"/>
              </a:rPr>
              <a:t>Analyzing 311 Service Delivery Across NYC's Income Divide.</a:t>
            </a:r>
            <a:endParaRPr lang="en-US" sz="4000" b="1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83893" y="3215267"/>
            <a:ext cx="5307495" cy="3189879"/>
          </a:xfrm>
        </p:spPr>
        <p:txBody>
          <a:bodyPr anchor="b">
            <a:normAutofit/>
          </a:bodyPr>
          <a:lstStyle/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</a:endParaRP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</a:endParaRPr>
          </a:p>
          <a:p>
            <a:pPr algn="l"/>
            <a:r>
              <a:rPr lang="en-US" sz="2000">
                <a:solidFill>
                  <a:schemeClr val="tx2"/>
                </a:solidFill>
              </a:rPr>
              <a:t>Team Members:</a:t>
            </a:r>
            <a:endParaRPr lang="en-US">
              <a:solidFill>
                <a:schemeClr val="tx2"/>
              </a:solidFill>
            </a:endParaRP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</a:rPr>
              <a:t>Kyle Shaddox</a:t>
            </a:r>
            <a:endParaRPr lang="en-US">
              <a:solidFill>
                <a:schemeClr val="tx2"/>
              </a:solidFill>
            </a:endParaRP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</a:rPr>
              <a:t>Reem Hussein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</a:rPr>
              <a:t>Hyacinthe Sarr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</a:rPr>
              <a:t>Juan Jaimes</a:t>
            </a:r>
          </a:p>
          <a:p>
            <a:pPr marL="342900" indent="-342900" algn="l">
              <a:buChar char="•"/>
            </a:pPr>
            <a:r>
              <a:rPr lang="en-US" sz="2000">
                <a:solidFill>
                  <a:schemeClr val="tx2"/>
                </a:solidFill>
              </a:rPr>
              <a:t>Shahria Ahmed</a:t>
            </a: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</a:endParaRPr>
          </a:p>
          <a:p>
            <a:pPr marL="342900" indent="-342900" algn="l">
              <a:buChar char="•"/>
            </a:pPr>
            <a:endParaRPr lang="en-US" sz="20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E6AF3539-BFA6-3A7E-6F75-F9D1F254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5" y="2901739"/>
            <a:ext cx="4620314" cy="61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42065-A0A2-EFC2-B853-241CB6D8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7EEE-E148-2CB4-9854-407E65F836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052"/>
            <a:ext cx="9144000" cy="1318942"/>
          </a:xfrm>
        </p:spPr>
        <p:txBody>
          <a:bodyPr>
            <a:normAutofit fontScale="90000"/>
          </a:bodyPr>
          <a:lstStyle/>
          <a:p>
            <a:r>
              <a:rPr lang="en-US" sz="3200" b="1">
                <a:ea typeface="+mj-lt"/>
                <a:cs typeface="+mj-lt"/>
              </a:rPr>
              <a:t>Does NYC provide faster and more effective 311 service responses to wealthier neighborhoods compared to lower-income communities?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9BFFA-6963-B9FF-4C35-DD75A354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610" y="1474013"/>
            <a:ext cx="12024730" cy="488032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en-US" b="1"/>
              <a:t>What is 311?</a:t>
            </a:r>
          </a:p>
          <a:p>
            <a:pPr marL="342900" indent="-342900" algn="l">
              <a:buChar char="•"/>
            </a:pPr>
            <a:r>
              <a:rPr lang="en-US"/>
              <a:t>NYC 311 acts as a centralized hub for residents to access non-emergency city services and information (i.e. things that don’t require calling 911)</a:t>
            </a:r>
          </a:p>
          <a:p>
            <a:pPr marL="342900" indent="-342900" algn="l">
              <a:buChar char="•"/>
            </a:pPr>
            <a:r>
              <a:rPr lang="en-US"/>
              <a:t>It is available via phone, text, mobile app, and online through the NYC 311 website</a:t>
            </a:r>
          </a:p>
          <a:p>
            <a:pPr marL="342900" indent="-342900" algn="l">
              <a:buChar char="•"/>
            </a:pPr>
            <a:r>
              <a:rPr lang="en-US"/>
              <a:t>311 Covers essential services such as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Potholes, broken sidewalks, missing/damaged street signs, broken street signals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Housing &amp; public health problems such as heat or hot water, building violations, air quality issues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Public disturbance such as noise complaints, illegal parking</a:t>
            </a:r>
          </a:p>
          <a:p>
            <a:pPr algn="l"/>
            <a:r>
              <a:rPr lang="en-US" b="1"/>
              <a:t>What Geographical Areas?</a:t>
            </a:r>
          </a:p>
          <a:p>
            <a:pPr marL="342900" indent="-342900" algn="l">
              <a:buChar char="•"/>
            </a:pPr>
            <a:r>
              <a:rPr lang="en-US"/>
              <a:t>Manhattan</a:t>
            </a:r>
          </a:p>
          <a:p>
            <a:pPr marL="342900" indent="-342900" algn="l">
              <a:buChar char="•"/>
            </a:pPr>
            <a:r>
              <a:rPr lang="en-US"/>
              <a:t>Queens</a:t>
            </a:r>
          </a:p>
          <a:p>
            <a:pPr marL="342900" indent="-342900" algn="l">
              <a:buChar char="•"/>
            </a:pPr>
            <a:r>
              <a:rPr lang="en-US"/>
              <a:t>Brooklyn</a:t>
            </a:r>
          </a:p>
          <a:p>
            <a:pPr marL="342900" indent="-342900" algn="l">
              <a:buChar char="•"/>
            </a:pPr>
            <a:r>
              <a:rPr lang="en-US"/>
              <a:t>Bronx</a:t>
            </a:r>
          </a:p>
          <a:p>
            <a:pPr marL="342900" indent="-342900" algn="l">
              <a:buChar char="•"/>
            </a:pPr>
            <a:r>
              <a:rPr lang="en-US"/>
              <a:t>Staten Island</a:t>
            </a:r>
          </a:p>
          <a:p>
            <a:pPr marL="342900" indent="-342900" algn="l">
              <a:buChar char="•"/>
            </a:pPr>
            <a:endParaRPr lang="en-US"/>
          </a:p>
          <a:p>
            <a:pPr algn="l"/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3E820E03-74E3-3BFB-1AB4-F236EA94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7C0D0-76CD-02BE-B324-819851592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9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38C08-0B00-3D02-30D2-F51D022F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98544-7F46-5F52-7FD8-B92E3C49D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052"/>
            <a:ext cx="9144000" cy="705625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Why 311 Responsiveness Matters?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297B6-E47F-D7AC-4926-ED55011CE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196" y="814233"/>
            <a:ext cx="11931803" cy="52148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/>
              <a:t>Why this matters:</a:t>
            </a:r>
          </a:p>
          <a:p>
            <a:pPr marL="342900" indent="-342900" algn="l">
              <a:buChar char="•"/>
            </a:pPr>
            <a:r>
              <a:rPr lang="en-US"/>
              <a:t>311 responsiveness matters because it’s a core measure of how well a city functions,  it directly reflects government efficiency, equity, and public trust</a:t>
            </a:r>
          </a:p>
          <a:p>
            <a:pPr marL="342900" indent="-342900" algn="l">
              <a:buChar char="•"/>
            </a:pPr>
            <a:r>
              <a:rPr lang="en-US"/>
              <a:t>It’s the city’s frontline for residents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311 is the main interface between citizens and the local government for everyday problems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It measures operational effectiveness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Every 311 report generates a data trail - tracking how long it takes each agency to resolve an issue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It affects quality of life and public safety</a:t>
            </a:r>
          </a:p>
          <a:p>
            <a:pPr marL="342900" indent="-342900" algn="l">
              <a:buChar char="•"/>
            </a:pPr>
            <a:r>
              <a:rPr lang="en-US"/>
              <a:t>It supports data-driven governance - It helps:</a:t>
            </a:r>
          </a:p>
          <a:p>
            <a:pPr marL="800100" indent="-342900" algn="l">
              <a:buFont typeface="Courier New" panose="020B0604020202020204" pitchFamily="34" charset="0"/>
              <a:buChar char="o"/>
            </a:pPr>
            <a:r>
              <a:rPr lang="en-US" sz="1900"/>
              <a:t>Identify patterns and hotspots (e.g., areas with recurring noise or rodent issues)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sz="1900"/>
              <a:t>Guide policy interventions and targeted enforcement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sz="1900"/>
              <a:t>Improve equity by showing where services are lagging, often in lower-income or underrepresented areas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endParaRPr lang="en-US"/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B86ED3D5-CD80-1769-DE8B-C810AFB5C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8F22C-F064-2FE9-C7D4-0CB5F139E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3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5F27-BD0E-8B30-FF5F-84408D42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A2CD-C064-75F0-B5DF-AA5813F0A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Data Sources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383C6-634D-E158-EDDE-7A7E5BD11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5025" y="879282"/>
            <a:ext cx="10370634" cy="55586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Three data sources we will use</a:t>
            </a:r>
          </a:p>
          <a:p>
            <a:pPr marL="342900" indent="-342900" algn="l">
              <a:buChar char="•"/>
            </a:pPr>
            <a:r>
              <a:rPr lang="en-US"/>
              <a:t>US Census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  <a:hlinkClick r:id="rId2"/>
              </a:rPr>
              <a:t>https://www.census.gov/programs-surveys/acs</a:t>
            </a:r>
            <a:endParaRPr lang="en-US"/>
          </a:p>
          <a:p>
            <a:pPr marL="342900" indent="-342900" algn="l">
              <a:buChar char="•"/>
            </a:pPr>
            <a:r>
              <a:rPr lang="en-US"/>
              <a:t>City of New York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hlinkClick r:id="rId3"/>
              </a:rPr>
              <a:t>https://data.cityofnewyork.us/City-Government/311-Resolution-Satisfaction-Survey/5ijn-vbdv</a:t>
            </a:r>
          </a:p>
          <a:p>
            <a:pPr marL="342900" indent="-342900" algn="l">
              <a:buChar char="•"/>
            </a:pPr>
            <a:r>
              <a:rPr lang="en-US"/>
              <a:t>City of New York – Population Fact Finder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hlinkClick r:id="rId4"/>
              </a:rPr>
              <a:t>https://popfactfinder.planning.nyc.gov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/>
              <a:t>Other – To be determined</a:t>
            </a:r>
          </a:p>
          <a:p>
            <a:pPr marL="342900" indent="-342900" algn="l">
              <a:buChar char="•"/>
            </a:pPr>
            <a:r>
              <a:rPr lang="en-US"/>
              <a:t>Discussion – what relevant data these sources provide, why they are interesting, how we intend to use them </a:t>
            </a:r>
          </a:p>
          <a:p>
            <a:pPr marL="342900" indent="-342900" algn="l">
              <a:buChar char="•"/>
            </a:pPr>
            <a:endParaRPr lang="en-US"/>
          </a:p>
          <a:p>
            <a:pPr algn="l"/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335856E5-4933-A0C4-3E63-27E9CD091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FD73E-7561-0A7E-80CC-1EAE170A1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E4434-1358-A1F0-3404-545658B6C533}"/>
              </a:ext>
            </a:extLst>
          </p:cNvPr>
          <p:cNvSpPr txBox="1"/>
          <p:nvPr/>
        </p:nvSpPr>
        <p:spPr>
          <a:xfrm>
            <a:off x="10007599" y="274320"/>
            <a:ext cx="216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Shah</a:t>
            </a:r>
          </a:p>
        </p:txBody>
      </p:sp>
    </p:spTree>
    <p:extLst>
      <p:ext uri="{BB962C8B-B14F-4D97-AF65-F5344CB8AC3E}">
        <p14:creationId xmlns:p14="http://schemas.microsoft.com/office/powerpoint/2010/main" val="16819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8E62-4141-DEA4-F92B-5DA5A30B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CB7E-E2CA-0000-BDEE-60ADAD886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Core Analytical Questions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779F9-D777-8E1D-8369-58195B3CAE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35" y="767770"/>
            <a:ext cx="11841458" cy="5594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Char char="•"/>
            </a:pPr>
            <a:r>
              <a:rPr lang="en-US" b="1"/>
              <a:t>Question One</a:t>
            </a:r>
            <a:r>
              <a:rPr lang="en-US"/>
              <a:t> - </a:t>
            </a:r>
            <a:r>
              <a:rPr lang="en-US">
                <a:ea typeface="+mn-lt"/>
                <a:cs typeface="+mn-lt"/>
              </a:rPr>
              <a:t>What is the average response time to quality-of-life complaints by neighborhood?</a:t>
            </a:r>
            <a:endParaRPr lang="en-US"/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This helps reveal which areas of the city receive faster attention from 311 and where delays are most common</a:t>
            </a:r>
          </a:p>
          <a:p>
            <a:pPr lvl="1" algn="l"/>
            <a:endParaRPr lang="en-US"/>
          </a:p>
          <a:p>
            <a:pPr marL="285750" indent="-285750" algn="l">
              <a:buChar char="•"/>
            </a:pPr>
            <a:r>
              <a:rPr lang="en-US" b="1"/>
              <a:t>Question Two</a:t>
            </a:r>
            <a:r>
              <a:rPr lang="en-US"/>
              <a:t> - </a:t>
            </a:r>
            <a:r>
              <a:rPr lang="en-US">
                <a:ea typeface="+mn-lt"/>
                <a:cs typeface="+mn-lt"/>
              </a:rPr>
              <a:t>How does median household income vary across the neighborhoods in our dataset?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Understanding income variation provides important context for analyzing differences in service delivery and access</a:t>
            </a:r>
          </a:p>
          <a:p>
            <a:pPr lvl="1" algn="l"/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/>
              <a:t>Question Three</a:t>
            </a:r>
            <a:r>
              <a:rPr lang="en-US"/>
              <a:t> - I</a:t>
            </a:r>
            <a:r>
              <a:rPr lang="en-US">
                <a:ea typeface="+mn-lt"/>
                <a:cs typeface="+mn-lt"/>
              </a:rPr>
              <a:t>s there a relationship between income levels and average 311 response times?</a:t>
            </a:r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/>
              <a:t>Exploring this connection can uncover patterns of inequity and help determine if resources are distributed fairly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algn="l"/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61133793-E6C9-0D68-D594-20724354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96CAB-1DFB-FBD3-B278-E2899464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76435-A86F-F246-3A57-22D2D4B55E35}"/>
              </a:ext>
            </a:extLst>
          </p:cNvPr>
          <p:cNvSpPr txBox="1"/>
          <p:nvPr/>
        </p:nvSpPr>
        <p:spPr>
          <a:xfrm>
            <a:off x="10007599" y="274320"/>
            <a:ext cx="216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Kyle</a:t>
            </a:r>
          </a:p>
        </p:txBody>
      </p:sp>
    </p:spTree>
    <p:extLst>
      <p:ext uri="{BB962C8B-B14F-4D97-AF65-F5344CB8AC3E}">
        <p14:creationId xmlns:p14="http://schemas.microsoft.com/office/powerpoint/2010/main" val="207032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87B0-0967-148D-D025-54536F65B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377A-134F-A823-70DB-EDAA63227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Core Analytical Questions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C08A1-F8F1-1BB6-36E9-DBC0FB5A9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35" y="767770"/>
            <a:ext cx="11841458" cy="5594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Char char="•"/>
            </a:pPr>
            <a:endParaRPr lang="en-US"/>
          </a:p>
          <a:p>
            <a:pPr marL="285750" indent="-285750" algn="l">
              <a:buFont typeface="Arial,Sans-Serif" panose="020B0604020202020204" pitchFamily="34" charset="0"/>
              <a:buChar char="•"/>
            </a:pPr>
            <a:r>
              <a:rPr lang="en-US" b="1"/>
              <a:t>Question Four</a:t>
            </a:r>
            <a:r>
              <a:rPr lang="en-US"/>
              <a:t> - Do certain types of quality-of-life complaints (e.g., noise vs. sanitation vs. illegal parking) get resolved faster in wealthier neighborhoods?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r>
              <a:rPr lang="en-US"/>
              <a:t>Looking at this sheds light on whether some issues are prioritized differently depending on a community’s wealth</a:t>
            </a:r>
          </a:p>
          <a:p>
            <a:pPr marL="285750" indent="-285750" algn="l">
              <a:buFont typeface="Arial,Sans-Serif" panose="020B0604020202020204" pitchFamily="34" charset="0"/>
              <a:buChar char="•"/>
            </a:pPr>
            <a:r>
              <a:rPr lang="en-US" b="1"/>
              <a:t>Question Five</a:t>
            </a:r>
            <a:r>
              <a:rPr lang="en-US"/>
              <a:t> - Which boroughs or neighborhoods show the greatest disparities in 311 response times when compared by wealth?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r>
              <a:rPr lang="en-US"/>
              <a:t>This comparison highlights where service gaps are most significant and where targeted improvements may be needed</a:t>
            </a:r>
          </a:p>
          <a:p>
            <a:pPr lvl="1" algn="l"/>
            <a:endParaRPr lang="en-US"/>
          </a:p>
          <a:p>
            <a:pPr marL="285750" indent="-285750" algn="l">
              <a:buFont typeface="Arial,Sans-Serif" panose="020B0604020202020204" pitchFamily="34" charset="0"/>
              <a:buChar char="•"/>
            </a:pPr>
            <a:r>
              <a:rPr lang="en-US" b="1"/>
              <a:t>Question Six </a:t>
            </a:r>
            <a:r>
              <a:rPr lang="en-US"/>
              <a:t>- How consistent are these disparities over time (e.g., by year or season)?</a:t>
            </a:r>
          </a:p>
          <a:p>
            <a:pPr marL="800100" lvl="1" indent="-342900" algn="l">
              <a:buFont typeface="Courier New,monospace" panose="020B0604020202020204" pitchFamily="34" charset="0"/>
              <a:buChar char="o"/>
            </a:pPr>
            <a:r>
              <a:rPr lang="en-US"/>
              <a:t>Examining this helps determine whether inequities in 311 response times are persistent or fluctuate with factors like budget cycles, staffing levels, or seasonal demand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 algn="l">
              <a:buChar char="•"/>
            </a:pPr>
            <a:endParaRPr lang="en-US"/>
          </a:p>
          <a:p>
            <a:pPr algn="l"/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FFAE393C-CE90-66FF-8B0D-44E43BF7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06479-CE32-B7D1-E44C-2D5F28A6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C766F-E946-12C1-9CDF-3C95B6CE1281}"/>
              </a:ext>
            </a:extLst>
          </p:cNvPr>
          <p:cNvSpPr txBox="1"/>
          <p:nvPr/>
        </p:nvSpPr>
        <p:spPr>
          <a:xfrm>
            <a:off x="10007599" y="274320"/>
            <a:ext cx="216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Kyle</a:t>
            </a:r>
          </a:p>
        </p:txBody>
      </p:sp>
    </p:spTree>
    <p:extLst>
      <p:ext uri="{BB962C8B-B14F-4D97-AF65-F5344CB8AC3E}">
        <p14:creationId xmlns:p14="http://schemas.microsoft.com/office/powerpoint/2010/main" val="2444812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A5BCF-8A5E-FAE1-B61A-2BF50EC6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18B7-CCF6-6541-2D68-942F88940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Analytical Strategy – Our Approach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618BC-208F-94F0-0D67-5B345150F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220" y="888574"/>
            <a:ext cx="9144000" cy="46480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/>
              <a:t>Data Integration/Tables</a:t>
            </a:r>
          </a:p>
          <a:p>
            <a:pPr marL="342900" indent="-342900" algn="l">
              <a:buChar char="•"/>
            </a:pPr>
            <a:r>
              <a:rPr lang="en-US"/>
              <a:t>Text</a:t>
            </a:r>
          </a:p>
          <a:p>
            <a:pPr marL="342900" indent="-342900" algn="l">
              <a:buChar char="•"/>
            </a:pPr>
            <a:r>
              <a:rPr lang="en-US"/>
              <a:t>Text</a:t>
            </a:r>
          </a:p>
          <a:p>
            <a:pPr algn="l"/>
            <a:endParaRPr lang="en-US"/>
          </a:p>
          <a:p>
            <a:pPr algn="l"/>
            <a:r>
              <a:rPr lang="en-US"/>
              <a:t>Statistical Methods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/>
          </a:p>
          <a:p>
            <a:pPr algn="l"/>
            <a:r>
              <a:rPr lang="en-US"/>
              <a:t>Validation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/>
              <a:t>Text</a:t>
            </a:r>
          </a:p>
          <a:p>
            <a:pPr algn="l"/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3AD76794-C5AD-CF01-27F8-2493D7BAE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B100B-F79F-EB43-1D03-3A8FD6FB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5245EB-CAC5-75B5-CFD9-5404068393E9}"/>
              </a:ext>
            </a:extLst>
          </p:cNvPr>
          <p:cNvSpPr txBox="1"/>
          <p:nvPr/>
        </p:nvSpPr>
        <p:spPr>
          <a:xfrm>
            <a:off x="10007599" y="274320"/>
            <a:ext cx="216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Sarr</a:t>
            </a:r>
          </a:p>
        </p:txBody>
      </p:sp>
    </p:spTree>
    <p:extLst>
      <p:ext uri="{BB962C8B-B14F-4D97-AF65-F5344CB8AC3E}">
        <p14:creationId xmlns:p14="http://schemas.microsoft.com/office/powerpoint/2010/main" val="269106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E1CA-6DFC-0008-470A-F7A15812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9025-30C0-BD33-441E-96F8DA211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614"/>
            <a:ext cx="9144000" cy="609859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Anticipated Challenges</a:t>
            </a:r>
            <a:endParaRPr lang="en-US" sz="3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34FC9-B28C-7538-23DC-4DBFD446F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220" y="888574"/>
            <a:ext cx="9144000" cy="46480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/>
              <a:t>Data Integration/Tables</a:t>
            </a:r>
          </a:p>
          <a:p>
            <a:pPr marL="342900" indent="-342900" algn="l">
              <a:buChar char="•"/>
            </a:pPr>
            <a:r>
              <a:rPr lang="en-US"/>
              <a:t>Text</a:t>
            </a:r>
          </a:p>
          <a:p>
            <a:pPr marL="342900" indent="-342900" algn="l">
              <a:buChar char="•"/>
            </a:pPr>
            <a:r>
              <a:rPr lang="en-US"/>
              <a:t>Text</a:t>
            </a:r>
          </a:p>
          <a:p>
            <a:pPr algn="l"/>
            <a:endParaRPr lang="en-US"/>
          </a:p>
          <a:p>
            <a:pPr algn="l"/>
            <a:r>
              <a:rPr lang="en-US"/>
              <a:t>Statistical Methods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 panose="020B0604020202020204" pitchFamily="34" charset="0"/>
              <a:buChar char="•"/>
            </a:pPr>
            <a:endParaRPr lang="en-US"/>
          </a:p>
          <a:p>
            <a:pPr algn="l"/>
            <a:r>
              <a:rPr lang="en-US"/>
              <a:t>Validation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/>
              <a:t>Text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/>
              <a:t>Text</a:t>
            </a:r>
          </a:p>
          <a:p>
            <a:pPr algn="l"/>
            <a:endParaRPr lang="en-US"/>
          </a:p>
          <a:p>
            <a:pPr marL="342900" indent="-342900" algn="l">
              <a:buChar char="•"/>
            </a:pPr>
            <a:endParaRPr lang="en-US"/>
          </a:p>
        </p:txBody>
      </p:sp>
      <p:pic>
        <p:nvPicPr>
          <p:cNvPr id="8" name="Picture 7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6CCC4ABE-A55C-9DB5-BAE2-B652479E8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30" y="6520465"/>
            <a:ext cx="1455898" cy="1944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99187-6C7C-81E2-54DF-C60B5D0E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0E314-9EB4-01E5-BBB1-8D606432F4C4}"/>
              </a:ext>
            </a:extLst>
          </p:cNvPr>
          <p:cNvSpPr txBox="1"/>
          <p:nvPr/>
        </p:nvSpPr>
        <p:spPr>
          <a:xfrm>
            <a:off x="10007599" y="274320"/>
            <a:ext cx="216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Shah</a:t>
            </a:r>
          </a:p>
        </p:txBody>
      </p:sp>
    </p:spTree>
    <p:extLst>
      <p:ext uri="{BB962C8B-B14F-4D97-AF65-F5344CB8AC3E}">
        <p14:creationId xmlns:p14="http://schemas.microsoft.com/office/powerpoint/2010/main" val="307941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D4141-BFCE-051E-D305-1128451A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7A511B6-A32E-1F4C-7125-4C52C5B3F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613734-5DCC-6839-BF15-2CFAD39D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34618-A7C3-4569-164F-BFE3B3384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9980" y="262686"/>
            <a:ext cx="6655239" cy="1297115"/>
          </a:xfrm>
        </p:spPr>
        <p:txBody>
          <a:bodyPr anchor="t">
            <a:normAutofit/>
          </a:bodyPr>
          <a:lstStyle/>
          <a:p>
            <a:r>
              <a:rPr lang="en-US" sz="4000" b="1"/>
              <a:t>Next Steps...</a:t>
            </a:r>
            <a:br>
              <a:rPr lang="en-US" sz="4000" b="1"/>
            </a:br>
            <a:endParaRPr lang="en-US" sz="4000" b="1">
              <a:solidFill>
                <a:srgbClr val="0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0908E-8C0D-3FC6-0FB1-8D95A57D3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8332" y="2388218"/>
            <a:ext cx="5307495" cy="1647294"/>
          </a:xfrm>
        </p:spPr>
        <p:txBody>
          <a:bodyPr anchor="b">
            <a:normAutofit/>
          </a:bodyPr>
          <a:lstStyle/>
          <a:p>
            <a:pPr marL="342900" indent="-342900" algn="l">
              <a:buAutoNum type="arabicPeriod"/>
            </a:pPr>
            <a:endParaRPr lang="en-US" sz="2000">
              <a:solidFill>
                <a:schemeClr val="tx2"/>
              </a:solidFill>
            </a:endParaRPr>
          </a:p>
          <a:p>
            <a:pPr marL="342900" indent="-342900" algn="l">
              <a:buAutoNum type="arabicPeriod"/>
            </a:pPr>
            <a:endParaRPr lang="en-US" sz="2000">
              <a:solidFill>
                <a:schemeClr val="tx2"/>
              </a:solidFill>
            </a:endParaRPr>
          </a:p>
          <a:p>
            <a:pPr marL="457200" indent="-457200" algn="l">
              <a:buAutoNum type="arabicPeriod"/>
            </a:pPr>
            <a:r>
              <a:rPr lang="en-US" sz="2000">
                <a:solidFill>
                  <a:schemeClr val="tx2"/>
                </a:solidFill>
              </a:rPr>
              <a:t>Get to work!</a:t>
            </a:r>
            <a:endParaRPr lang="en-US">
              <a:solidFill>
                <a:schemeClr val="tx2"/>
              </a:solidFill>
            </a:endParaRPr>
          </a:p>
          <a:p>
            <a:pPr marL="457200" indent="-457200" algn="l">
              <a:buAutoNum type="arabicPeriod"/>
            </a:pPr>
            <a:r>
              <a:rPr lang="en-US" sz="2000">
                <a:solidFill>
                  <a:schemeClr val="tx2"/>
                </a:solidFill>
              </a:rPr>
              <a:t>Mid Semester Presentation</a:t>
            </a:r>
          </a:p>
          <a:p>
            <a:pPr marL="342900" indent="-342900" algn="l">
              <a:buAutoNum type="arabicPeriod"/>
            </a:pPr>
            <a:endParaRPr lang="en-US" sz="2000">
              <a:solidFill>
                <a:schemeClr val="tx2"/>
              </a:solidFill>
            </a:endParaRPr>
          </a:p>
          <a:p>
            <a:pPr marL="342900" indent="-342900" algn="l">
              <a:buAutoNum type="arabicPeriod"/>
            </a:pPr>
            <a:endParaRPr lang="en-US" sz="20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F1E7E0-7B1F-2589-8800-2E11C3F8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D43FA-F3F1-CE98-A4C3-608DBF304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EFF6F5-9219-7325-79CC-74199E21C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8F78B7-E1EB-2391-C015-F6435455D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blue letter on a black background&#10;&#10;AI-generated content may be incorrect.">
            <a:extLst>
              <a:ext uri="{FF2B5EF4-FFF2-40B4-BE49-F238E27FC236}">
                <a16:creationId xmlns:a16="http://schemas.microsoft.com/office/drawing/2014/main" id="{CC3B2B7B-E9F3-A8A6-B0E2-81A5DCB6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5" y="2901739"/>
            <a:ext cx="4620314" cy="6177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C322742-62E9-7484-5C8A-B2040077F59B}"/>
              </a:ext>
            </a:extLst>
          </p:cNvPr>
          <p:cNvSpPr txBox="1">
            <a:spLocks/>
          </p:cNvSpPr>
          <p:nvPr/>
        </p:nvSpPr>
        <p:spPr>
          <a:xfrm>
            <a:off x="5683697" y="4364476"/>
            <a:ext cx="6655239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END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2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STA-9750 – Final Project  Analyzing 311 Service Delivery Across NYC's Income Divide.</vt:lpstr>
      <vt:lpstr>Does NYC provide faster and more effective 311 service responses to wealthier neighborhoods compared to lower-income communities?</vt:lpstr>
      <vt:lpstr>Why 311 Responsiveness Matters?</vt:lpstr>
      <vt:lpstr>Data Sources</vt:lpstr>
      <vt:lpstr>Core Analytical Questions</vt:lpstr>
      <vt:lpstr>Core Analytical Questions</vt:lpstr>
      <vt:lpstr>Analytical Strategy – Our Approach</vt:lpstr>
      <vt:lpstr>Anticipated Challenges</vt:lpstr>
      <vt:lpstr>Next Steps...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STA-9750 – Final Project  Analyzing 311 Service Delivery Across NYC's Income Divide.</dc:title>
  <dc:creator/>
  <cp:lastModifiedBy>Hyacinthe Sarr</cp:lastModifiedBy>
  <cp:revision>6</cp:revision>
  <dcterms:created xsi:type="dcterms:W3CDTF">2025-09-25T22:07:27Z</dcterms:created>
  <dcterms:modified xsi:type="dcterms:W3CDTF">2025-11-27T19:41:28Z</dcterms:modified>
</cp:coreProperties>
</file>